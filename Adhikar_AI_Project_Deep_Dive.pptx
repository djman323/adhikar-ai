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8869680" y="4389120"/>
            <a:ext cx="4389120" cy="4389120"/>
          </a:xfrm>
          <a:prstGeom prst="ellipse">
            <a:avLst/>
          </a:prstGeom>
          <a:solidFill>
            <a:srgbClr val="76C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498079" y="-548640"/>
            <a:ext cx="2560320" cy="2560320"/>
          </a:xfrm>
          <a:prstGeom prst="ellipse">
            <a:avLst/>
          </a:prstGeom>
          <a:solidFill>
            <a:srgbClr val="5A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7B96B"/>
                </a:solidFill>
                <a:latin typeface="Aptos"/>
              </a:rPr>
              <a:t>ADHIKAR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6400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6F2EA"/>
                </a:solidFill>
                <a:latin typeface="Aptos Display"/>
              </a:rPr>
              <a:t>Constitutional Legal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B2BAC6"/>
                </a:solidFill>
                <a:latin typeface="Aptos"/>
              </a:rPr>
              <a:t>A source-linked legal assistant for Indian constitutional law, built around retrieval, reranking, and a premium chat 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60520"/>
            <a:ext cx="1828800" cy="438912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Indian Constitution PDF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4160520"/>
            <a:ext cx="1828800" cy="438912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Hybrid RAG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4160520"/>
            <a:ext cx="1828800" cy="438912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Qwen 2.5 via Ollama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685800"/>
            <a:ext cx="4069080" cy="5394960"/>
          </a:xfrm>
          <a:prstGeom prst="roundRect">
            <a:avLst/>
          </a:prstGeom>
          <a:solidFill>
            <a:srgbClr val="0A101C"/>
          </a:solidFill>
          <a:ln w="12700">
            <a:solidFill>
              <a:srgbClr val="2D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26679" y="905256"/>
            <a:ext cx="3474720" cy="3474720"/>
          </a:xfrm>
          <a:prstGeom prst="ellipse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Isosceles Triangle 14"/>
          <p:cNvSpPr/>
          <p:nvPr/>
        </p:nvSpPr>
        <p:spPr>
          <a:xfrm>
            <a:off x="8334756" y="1060704"/>
            <a:ext cx="2377440" cy="1051560"/>
          </a:xfrm>
          <a:prstGeom prst="triangle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83879" y="2212848"/>
            <a:ext cx="2651760" cy="219456"/>
          </a:xfrm>
          <a:prstGeom prst="roundRect">
            <a:avLst/>
          </a:prstGeom>
          <a:solidFill>
            <a:srgbClr val="E7B96B"/>
          </a:solidFill>
          <a:ln w="12700">
            <a:solidFill>
              <a:srgbClr val="E7B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12480" y="2331720"/>
            <a:ext cx="164592" cy="1417320"/>
          </a:xfrm>
          <a:prstGeom prst="roundRect">
            <a:avLst/>
          </a:prstGeom>
          <a:solidFill>
            <a:srgbClr val="CA963D"/>
          </a:solidFill>
          <a:ln w="12700">
            <a:solidFill>
              <a:srgbClr val="CA9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64039" y="2340864"/>
            <a:ext cx="164592" cy="1417320"/>
          </a:xfrm>
          <a:prstGeom prst="roundRect">
            <a:avLst/>
          </a:prstGeom>
          <a:solidFill>
            <a:srgbClr val="CA963D"/>
          </a:solidFill>
          <a:ln w="12700">
            <a:solidFill>
              <a:srgbClr val="CA9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97896" y="2340864"/>
            <a:ext cx="164592" cy="1417320"/>
          </a:xfrm>
          <a:prstGeom prst="roundRect">
            <a:avLst/>
          </a:prstGeom>
          <a:solidFill>
            <a:srgbClr val="CA963D"/>
          </a:solidFill>
          <a:ln w="12700">
            <a:solidFill>
              <a:srgbClr val="CA9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778239" y="2131460"/>
            <a:ext cx="1463040" cy="73152"/>
          </a:xfrm>
          <a:prstGeom prst="roundRect">
            <a:avLst/>
          </a:prstGeom>
          <a:solidFill>
            <a:srgbClr val="76C8BA"/>
          </a:solidFill>
          <a:ln w="12700">
            <a:solidFill>
              <a:srgbClr val="76C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486900" y="1014984"/>
            <a:ext cx="73152" cy="1188720"/>
          </a:xfrm>
          <a:prstGeom prst="roundRect">
            <a:avLst/>
          </a:prstGeom>
          <a:solidFill>
            <a:srgbClr val="76C8BA"/>
          </a:solidFill>
          <a:ln w="12700">
            <a:solidFill>
              <a:srgbClr val="76C8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18120" y="4617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2BAC6"/>
                </a:solidFill>
                <a:latin typeface="Aptos"/>
              </a:rPr>
              <a:t>3D visual motif: justice, balance, and 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2BAC6"/>
                </a:solidFill>
                <a:latin typeface="Aptos"/>
              </a:rPr>
              <a:t>Adhikar AI | Project Deep Dive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6F2EA"/>
                </a:solidFill>
                <a:latin typeface="Aptos Display"/>
              </a:rPr>
              <a:t>What this presentation covers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2BAC6"/>
                </a:solidFill>
                <a:latin typeface="Aptos"/>
              </a:rPr>
              <a:t>A deep-dive overview of the project, architecture, data flow, and implementation details.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03520" cy="4206240"/>
          </a:xfrm>
          <a:prstGeom prst="roundRect">
            <a:avLst/>
          </a:prstGeom>
          <a:solidFill>
            <a:srgbClr val="19253B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4447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7B96B"/>
                </a:solidFill>
                <a:latin typeface="Aptos"/>
              </a:rPr>
              <a:t>Presentation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78308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What Adhikar AI is and the problem it solves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How the system works end-to-end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Tech stack and runtime components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LLM choice, embedding model, and reranking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How data is chunked, vectorized, and retrieved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UI, deployment, and practical limitations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80160"/>
            <a:ext cx="5394960" cy="420624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73368" y="14447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6F2EA"/>
                </a:solidFill>
                <a:latin typeface="Aptos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178308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The project is not a generic chatbot; it is a Constitution-grounded legal assistant.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Every answer should stay linked to retrieved Constitution excerpts instead of free-form guessing.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The architecture combines UI polish with retrieval quality to keep the product usable and credible.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2BAC6"/>
                </a:solidFill>
                <a:latin typeface="Aptos"/>
              </a:rPr>
              <a:t>Adhikar AI | Project Deep Dive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6F2EA"/>
                </a:solidFill>
                <a:latin typeface="Aptos Display"/>
              </a:rPr>
              <a:t>1. What the project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2BAC6"/>
                </a:solidFill>
                <a:latin typeface="Aptos"/>
              </a:rPr>
              <a:t>Adhikar AI is a constitution-focused legal assistant for Indian law.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3657600" cy="4480560"/>
          </a:xfrm>
          <a:prstGeom prst="roundRect">
            <a:avLst/>
          </a:prstGeom>
          <a:solidFill>
            <a:srgbClr val="19253B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3990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7B96B"/>
                </a:solidFill>
                <a:latin typeface="Aptos"/>
              </a:rPr>
              <a:t>Core 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73736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Answer constitutional questions such as Article meaning, rights, and remedies.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Help users map practical problems to legal rights and constitutional remedies.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Keep explanations grounded in the uploaded Indian Constitution PDF.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520440" cy="448056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8" y="139903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6F2EA"/>
                </a:solidFill>
                <a:latin typeface="Aptos"/>
              </a:rPr>
              <a:t>User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1737360"/>
            <a:ext cx="3154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Fast conversational interface.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Source citations from retrieved document chunks.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Tone presets for formal, friendly, or student-friendly responses.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234440"/>
            <a:ext cx="3429000" cy="448056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85047" y="139903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6F2EA"/>
                </a:solidFill>
                <a:latin typeface="Aptos"/>
              </a:rPr>
              <a:t>What it is not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5047" y="173736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Not a general internet chatbot.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Not a pure keyword search tool.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Not a replacement for a practicing lawyer.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2BAC6"/>
                </a:solidFill>
                <a:latin typeface="Aptos"/>
              </a:rPr>
              <a:t>Adhikar AI | Project Deep Dive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6F2EA"/>
                </a:solidFill>
                <a:latin typeface="Aptos Display"/>
              </a:rPr>
              <a:t>2.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2BAC6"/>
                </a:solidFill>
                <a:latin typeface="Aptos"/>
              </a:rPr>
              <a:t>The backend is a retrieval-augmented generation pipeline with a Flask API and a Next.js UI.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2240280" cy="150876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21031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7B96B"/>
                </a:solidFill>
                <a:latin typeface="Aptos"/>
              </a:rPr>
              <a:t>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414016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2BAC6"/>
                </a:solidFill>
                <a:latin typeface="Aptos"/>
              </a:rPr>
              <a:t>Next.js chat and home page
Animated legal 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965960"/>
            <a:ext cx="2240280" cy="150876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55848" y="21031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7B96B"/>
                </a:solidFill>
                <a:latin typeface="Aptos"/>
              </a:rPr>
              <a:t>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5848" y="2414016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2BAC6"/>
                </a:solidFill>
                <a:latin typeface="Aptos"/>
              </a:rPr>
              <a:t>Flask /chat endpoint
Session state and prompt assembly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65960"/>
            <a:ext cx="2240280" cy="150876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81928" y="21031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7B96B"/>
                </a:solidFill>
                <a:latin typeface="Aptos"/>
              </a:rPr>
              <a:t>RAG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2414016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2BAC6"/>
                </a:solidFill>
                <a:latin typeface="Aptos"/>
              </a:rPr>
              <a:t>Hybrid retrieval
Dense FAISS + BM25 + reranking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965960"/>
            <a:ext cx="2240280" cy="150876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08007" y="21031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7B96B"/>
                </a:solidFill>
                <a:latin typeface="Aptos"/>
              </a:rPr>
              <a:t>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8007" y="2414016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2BAC6"/>
                </a:solidFill>
                <a:latin typeface="Aptos"/>
              </a:rPr>
              <a:t>Ollama hosted local model
Constitution-aware response generation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43200" y="2724912"/>
            <a:ext cx="475488" cy="0"/>
          </a:xfrm>
          <a:prstGeom prst="line">
            <a:avLst/>
          </a:prstGeom>
          <a:ln w="25400">
            <a:solidFill>
              <a:srgbClr val="E7B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69280" y="2724912"/>
            <a:ext cx="475488" cy="0"/>
          </a:xfrm>
          <a:prstGeom prst="line">
            <a:avLst/>
          </a:prstGeom>
          <a:ln w="25400">
            <a:solidFill>
              <a:srgbClr val="E7B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95360" y="2724912"/>
            <a:ext cx="475488" cy="0"/>
          </a:xfrm>
          <a:prstGeom prst="line">
            <a:avLst/>
          </a:prstGeom>
          <a:ln w="25400">
            <a:solidFill>
              <a:srgbClr val="E7B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38862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6F2EA"/>
                </a:solidFill>
                <a:latin typeface="Aptos"/>
              </a:rPr>
              <a:t>Flow: User query → API receives session_id and tone → RAG retrieves relevant Constitution chunks → prompt is assembled with memory and context → Ollama model generates the answer → sources are returned to the UI.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2BAC6"/>
                </a:solidFill>
                <a:latin typeface="Aptos"/>
              </a:rPr>
              <a:t>Adhikar AI | Project Deep Dive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6F2EA"/>
                </a:solidFill>
                <a:latin typeface="Aptos Display"/>
              </a:rPr>
              <a:t>3.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2BAC6"/>
                </a:solidFill>
                <a:latin typeface="Aptos"/>
              </a:rPr>
              <a:t>The system uses a simple but effective stack for local-first legal QA.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120640" cy="86868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453895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7B96B"/>
                </a:solidFill>
                <a:latin typeface="Aptos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435607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2BAC6"/>
                </a:solidFill>
                <a:latin typeface="Aptos"/>
              </a:rPr>
              <a:t>Next.js 14.2, React 18.3, custom CSS, glassmorphism / motion-driven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120640" cy="86868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36792" y="1453895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7B96B"/>
                </a:solidFill>
                <a:latin typeface="Aptos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435607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2BAC6"/>
                </a:solidFill>
                <a:latin typeface="Aptos"/>
              </a:rPr>
              <a:t>Python 3.13, Flask, flask-cors, requests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423160"/>
            <a:ext cx="5120640" cy="86868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2551176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7B96B"/>
                </a:solidFill>
                <a:latin typeface="Aptos"/>
              </a:rPr>
              <a:t>RAG / NLP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53288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2BAC6"/>
                </a:solidFill>
                <a:latin typeface="Aptos"/>
              </a:rPr>
              <a:t>LangChain, langchain-community, langchain-huggingface, langchain-text-splitters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423160"/>
            <a:ext cx="5120640" cy="86868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36792" y="2551176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7B96B"/>
                </a:solidFill>
                <a:latin typeface="Aptos"/>
              </a:rPr>
              <a:t>Vector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3288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2BAC6"/>
                </a:solidFill>
                <a:latin typeface="Aptos"/>
              </a:rPr>
              <a:t>FAISS CPU, sentence-transformers, rank-bm25, cross-encoder reranker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20439"/>
            <a:ext cx="5120640" cy="86868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3648456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7B96B"/>
                </a:solidFill>
                <a:latin typeface="Aptos"/>
              </a:rPr>
              <a:t>Document ingestion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63016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2BAC6"/>
                </a:solidFill>
                <a:latin typeface="Aptos"/>
              </a:rPr>
              <a:t>PyPDFLoader over Indian Constitution.pdf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20439"/>
            <a:ext cx="5120640" cy="86868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36792" y="3648456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7B96B"/>
                </a:solidFill>
                <a:latin typeface="Aptos"/>
              </a:rPr>
              <a:t>LLM runtime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63016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2BAC6"/>
                </a:solidFill>
                <a:latin typeface="Aptos"/>
              </a:rPr>
              <a:t>Ollama with local Qwen 2.5 model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526280"/>
            <a:ext cx="10789920" cy="128016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" y="4690872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6F2EA"/>
                </a:solidFill>
                <a:latin typeface="Aptos"/>
              </a:rPr>
              <a:t>Dependencies to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502920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No cloud API is required for the core LLM path because the model runs locally through Ollama.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The stack is intentionally lightweight so the project can run on a laptop with a local model server.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2BAC6"/>
                </a:solidFill>
                <a:latin typeface="Aptos"/>
              </a:rPr>
              <a:t>Adhikar AI | Project Deep Dive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6F2EA"/>
                </a:solidFill>
                <a:latin typeface="Aptos Display"/>
              </a:rPr>
              <a:t>4. LLM choice and prompt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2BAC6"/>
                </a:solidFill>
                <a:latin typeface="Aptos"/>
              </a:rPr>
              <a:t>The backend uses a locally hosted Qwen 2.5 model through Ollama.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49240" cy="4297680"/>
          </a:xfrm>
          <a:prstGeom prst="roundRect">
            <a:avLst/>
          </a:prstGeom>
          <a:solidFill>
            <a:srgbClr val="19253B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444752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7B96B"/>
                </a:solidFill>
                <a:latin typeface="Aptos"/>
              </a:rPr>
              <a:t>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78308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Default backend variable: OLLAMA_MODEL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Configured to a valid local Ollama tag: qwen2.5:7b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The model is invoked through langchain_ollama.OllamaLLM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Temperature is set to 0.0 for more deterministic legal responses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80160"/>
            <a:ext cx="5440680" cy="429768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27648" y="1444752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6F2EA"/>
                </a:solidFill>
                <a:latin typeface="Aptos"/>
              </a:rPr>
              <a:t>Why this model style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1783080"/>
            <a:ext cx="5074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Good for instruction-following and structured reasoning.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Lower temperature keeps the tone stable and less speculative.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Local hosting makes the project reproducible without external API keys.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2BAC6"/>
                </a:solidFill>
                <a:latin typeface="Aptos"/>
              </a:rPr>
              <a:t>Adhikar AI | Project Deep Dive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6F2EA"/>
                </a:solidFill>
                <a:latin typeface="Aptos Display"/>
              </a:rPr>
              <a:t>5. Embedding model and vectorization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2BAC6"/>
                </a:solidFill>
                <a:latin typeface="Aptos"/>
              </a:rPr>
              <a:t>The Constitution is converted into dense vectors for semantic retrieval.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257800" cy="4526280"/>
          </a:xfrm>
          <a:prstGeom prst="roundRect">
            <a:avLst/>
          </a:prstGeom>
          <a:solidFill>
            <a:srgbClr val="19253B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39903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7B96B"/>
                </a:solidFill>
                <a:latin typeface="Aptos"/>
              </a:rPr>
              <a:t>Embedding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737360"/>
            <a:ext cx="48920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Model: sentence-transformers/all-MiniLM-L6-v2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Used through HuggingFaceEmbeddings in the RAG engine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Produces semantic vector representations for both document chunks and queries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Selected for speed, small size, and strong baseline retrieval quality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234440"/>
            <a:ext cx="5577840" cy="452628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90488" y="13990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6F2EA"/>
                </a:solidFill>
                <a:latin typeface="Aptos"/>
              </a:rPr>
              <a:t>How vectorization happens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0488" y="1737360"/>
            <a:ext cx="52120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Each text chunk is embedded into a fixed-length vector.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FAISS indexes those vectors so similar passages can be found quickly.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At query time, the user question is embedded in the same vector space.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Dense similarity finds semantically related chunks even if wording differs.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2BAC6"/>
                </a:solidFill>
                <a:latin typeface="Aptos"/>
              </a:rPr>
              <a:t>Adhikar AI | Project Deep Dive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6F2EA"/>
                </a:solidFill>
                <a:latin typeface="Aptos Display"/>
              </a:rPr>
              <a:t>6. How chunking is done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2BAC6"/>
                </a:solidFill>
                <a:latin typeface="Aptos"/>
              </a:rPr>
              <a:t>The code uses a two-level chunking strategy to preserve structure while improving recall.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3703320" cy="4526280"/>
          </a:xfrm>
          <a:prstGeom prst="roundRect">
            <a:avLst/>
          </a:prstGeom>
          <a:solidFill>
            <a:srgbClr val="19253B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39903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7B96B"/>
                </a:solidFill>
                <a:latin typeface="Aptos"/>
              </a:rPr>
              <a:t>Parent chunks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737360"/>
            <a:ext cx="33375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Chunk size: 2200 characters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Chunk overlap: 220 characters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Built from PDF page content using RecursiveCharacterTextSplitter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Preserves broader constitutional context and section hints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8848" y="1234440"/>
            <a:ext cx="3703320" cy="452628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0016" y="139903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6F2EA"/>
                </a:solidFill>
                <a:latin typeface="Aptos"/>
              </a:rPr>
              <a:t>Child chunks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16" y="1737360"/>
            <a:ext cx="33375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Chunk size: 700 characters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Chunk overlap: 100 characters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Derived from each parent chunk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Improves retrieval granularity for specific Articles and remedies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49056" y="1234440"/>
            <a:ext cx="3200400" cy="452628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50224" y="13990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6F2EA"/>
                </a:solidFill>
                <a:latin typeface="Aptos"/>
              </a:rPr>
              <a:t>Why this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0224" y="1737360"/>
            <a:ext cx="28346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Parent chunks keep context broad.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Child chunks improve search precision.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Overlap reduces the chance of breaking legal sentences or article references.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2BAC6"/>
                </a:solidFill>
                <a:latin typeface="Aptos"/>
              </a:rPr>
              <a:t>Adhikar AI | Project Deep Dive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6F2EA"/>
                </a:solidFill>
                <a:latin typeface="Aptos Display"/>
              </a:rPr>
              <a:t>7. Retrieval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2BAC6"/>
                </a:solidFill>
                <a:latin typeface="Aptos"/>
              </a:rPr>
              <a:t>The search stack combines dense, sparse, and reranked retrieval.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154680" cy="91440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68096" y="1536192"/>
            <a:ext cx="384048" cy="384048"/>
          </a:xfrm>
          <a:prstGeom prst="ellipse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2103" y="1554480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1018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499616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2EA"/>
                </a:solidFill>
                <a:latin typeface="Aptos"/>
              </a:rPr>
              <a:t>Embed the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154680" cy="91440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17136" y="1536192"/>
            <a:ext cx="384048" cy="384048"/>
          </a:xfrm>
          <a:prstGeom prst="ellipse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81144" y="1554480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1018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0912" y="1499616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2EA"/>
                </a:solidFill>
                <a:latin typeface="Aptos"/>
              </a:rPr>
              <a:t>Dense search in FAISS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371600"/>
            <a:ext cx="3154680" cy="91440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66175" y="1536192"/>
            <a:ext cx="384048" cy="384048"/>
          </a:xfrm>
          <a:prstGeom prst="ellipse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0183" y="1554480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1018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1" y="1499616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2EA"/>
                </a:solidFill>
                <a:latin typeface="Aptos"/>
              </a:rPr>
              <a:t>BM25 token search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43200"/>
            <a:ext cx="3154680" cy="91440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68096" y="2907792"/>
            <a:ext cx="384048" cy="384048"/>
          </a:xfrm>
          <a:prstGeom prst="ellipse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3" y="2926080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1018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2871216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2EA"/>
                </a:solidFill>
                <a:latin typeface="Aptos"/>
              </a:rPr>
              <a:t>Reciprocal rank fusion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743200"/>
            <a:ext cx="3154680" cy="91440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517136" y="2907792"/>
            <a:ext cx="384048" cy="384048"/>
          </a:xfrm>
          <a:prstGeom prst="ellipse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81144" y="2926080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1018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0912" y="2871216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2EA"/>
                </a:solidFill>
                <a:latin typeface="Aptos"/>
              </a:rPr>
              <a:t>Cross-encoder reranking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9" y="2743200"/>
            <a:ext cx="3154680" cy="91440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266175" y="2907792"/>
            <a:ext cx="384048" cy="384048"/>
          </a:xfrm>
          <a:prstGeom prst="ellipse">
            <a:avLst/>
          </a:prstGeom>
          <a:solidFill>
            <a:srgbClr val="E7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30183" y="2926080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1018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59951" y="2871216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6F2EA"/>
                </a:solidFill>
                <a:latin typeface="Aptos"/>
              </a:rPr>
              <a:t>Build final context and sources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297680"/>
            <a:ext cx="10789920" cy="123444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6968" y="4462272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6F2EA"/>
                </a:solidFill>
                <a:latin typeface="Aptos"/>
              </a:rPr>
              <a:t>Retrieval logic in plain language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48006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2BAC6"/>
                </a:solidFill>
                <a:latin typeface="Aptos"/>
              </a:rPr>
              <a:t>Dense retrieval catches semantic matches, BM25 catches exact terms, RRF merges both signals, and the cross-encoder reranker chooses the strongest legal passages.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2BAC6"/>
                </a:solidFill>
                <a:latin typeface="Aptos"/>
              </a:rPr>
              <a:t>Adhikar AI | Project Deep Dive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6F2EA"/>
                </a:solidFill>
                <a:latin typeface="Aptos Display"/>
              </a:rPr>
              <a:t>8. How data is vectorized and stored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2BAC6"/>
                </a:solidFill>
                <a:latin typeface="Aptos"/>
              </a:rPr>
              <a:t>The indexing pipeline turns the PDF into searchable, reusable artifacts.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881360" cy="3566160"/>
          </a:xfrm>
          <a:prstGeom prst="roundRect">
            <a:avLst/>
          </a:prstGeom>
          <a:solidFill>
            <a:srgbClr val="0E1421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2880360" cy="91440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7" y="180136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7B96B"/>
                </a:solidFill>
                <a:latin typeface="Aptos"/>
              </a:rPr>
              <a:t>Indian Constitution.pdf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203911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0">
                <a:solidFill>
                  <a:srgbClr val="B2BAC6"/>
                </a:solidFill>
                <a:latin typeface="Aptos"/>
              </a:rPr>
              <a:t>Loaded page-by-page with PyPDFLoader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91640"/>
            <a:ext cx="2880360" cy="91440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07408" y="180136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7B96B"/>
                </a:solidFill>
                <a:latin typeface="Aptos"/>
              </a:rPr>
              <a:t>Parent payload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203911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0">
                <a:solidFill>
                  <a:srgbClr val="B2BAC6"/>
                </a:solidFill>
                <a:latin typeface="Aptos"/>
              </a:rPr>
              <a:t>Broader chunks with page, section hint, and source metadata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691640"/>
            <a:ext cx="2880360" cy="91440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36407" y="180136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7B96B"/>
                </a:solidFill>
                <a:latin typeface="Aptos"/>
              </a:rPr>
              <a:t>Child payload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7" y="203911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0">
                <a:solidFill>
                  <a:srgbClr val="B2BAC6"/>
                </a:solidFill>
                <a:latin typeface="Aptos"/>
              </a:rPr>
              <a:t>Smaller overlapping chunks for finer retrieval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246120"/>
            <a:ext cx="2880360" cy="91440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7" y="335584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7B96B"/>
                </a:solidFill>
                <a:latin typeface="Aptos"/>
              </a:rPr>
              <a:t>FAISS parent 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7" y="3593591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0">
                <a:solidFill>
                  <a:srgbClr val="B2BAC6"/>
                </a:solidFill>
                <a:latin typeface="Aptos"/>
              </a:rPr>
              <a:t>Semantic index for larger context retrieval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246120"/>
            <a:ext cx="2880360" cy="91440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07408" y="335584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7B96B"/>
                </a:solidFill>
                <a:latin typeface="Aptos"/>
              </a:rPr>
              <a:t>FAISS child index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593591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0">
                <a:solidFill>
                  <a:srgbClr val="B2BAC6"/>
                </a:solidFill>
                <a:latin typeface="Aptos"/>
              </a:rPr>
              <a:t>Semantic index for precise matching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3246120"/>
            <a:ext cx="2880360" cy="91440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36407" y="335584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7B96B"/>
                </a:solidFill>
                <a:latin typeface="Aptos"/>
              </a:rPr>
              <a:t>metadata.json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6407" y="3593591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60" b="0">
                <a:solidFill>
                  <a:srgbClr val="B2BAC6"/>
                </a:solidFill>
                <a:latin typeface="Aptos"/>
              </a:rPr>
              <a:t>Stores parent/child mappings for context assembly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2BAC6"/>
                </a:solidFill>
                <a:latin typeface="Aptos"/>
              </a:rPr>
              <a:t>Adhikar AI | Project Deep Dive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6F2EA"/>
                </a:solidFill>
                <a:latin typeface="Aptos Display"/>
              </a:rPr>
              <a:t>9. Backend behavior and prompt assembly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2BAC6"/>
                </a:solidFill>
                <a:latin typeface="Aptos"/>
              </a:rPr>
              <a:t>The Flask backend manages session memory, style control, and legal prompt formatting.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029200" cy="4572000"/>
          </a:xfrm>
          <a:prstGeom prst="roundRect">
            <a:avLst/>
          </a:prstGeom>
          <a:solidFill>
            <a:srgbClr val="19253B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3990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7B96B"/>
                </a:solidFill>
                <a:latin typeface="Aptos"/>
              </a:rPr>
              <a:t>Request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73736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Receive query and session_id from the UI.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Fetch relevant Constitution chunks from the RAG engine.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Assemble memory + retrieved context + system prompt.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Call the Ollama model and return response plus sources.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234440"/>
            <a:ext cx="5669280" cy="457200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07608" y="13990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6F2EA"/>
                </a:solidFill>
                <a:latin typeface="Aptos"/>
              </a:rPr>
              <a:t>Prompt design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7608" y="173736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Answer within Indian constitutional jurisdiction.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Always cite source excerpts from the retrieved context.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Use a judicial tone: authoritative, reasoned, and balanced.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For practical issues, map the issue to the relevant right and remedy.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2BAC6"/>
                </a:solidFill>
                <a:latin typeface="Aptos"/>
              </a:rPr>
              <a:t>Adhikar AI | Project Deep Dive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6F2EA"/>
                </a:solidFill>
                <a:latin typeface="Aptos Display"/>
              </a:rPr>
              <a:t>10. UI, home page, and interaction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2BAC6"/>
                </a:solidFill>
                <a:latin typeface="Aptos"/>
              </a:rPr>
              <a:t>The frontend was redesigned to feel premium and intentional.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3657600" cy="4480560"/>
          </a:xfrm>
          <a:prstGeom prst="roundRect">
            <a:avLst/>
          </a:prstGeom>
          <a:solidFill>
            <a:srgbClr val="19253B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3990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7B96B"/>
                </a:solidFill>
                <a:latin typeface="Aptos"/>
              </a:rPr>
              <a:t>Home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73736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Hero section with a legal / courtroom visual identity.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3D-style scales and architecture motifs.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Cinematic background, glows, and grid overlays.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657600" cy="448056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8" y="13990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6F2EA"/>
                </a:solidFill>
                <a:latin typeface="Aptos"/>
              </a:rPr>
              <a:t>Chat workspace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173736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Glass-like cards and layered panels.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Quick prompts for faster entry.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Status badges and tone controls for feedback.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234440"/>
            <a:ext cx="3246120" cy="448056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22208" y="1399032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6F2EA"/>
                </a:solidFill>
                <a:latin typeface="Aptos"/>
              </a:rPr>
              <a:t>Motion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8" y="1737360"/>
            <a:ext cx="2880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Floating orbs and drifting grid.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Animated cards and message transitions.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Reduced-motion fallback included.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2BAC6"/>
                </a:solidFill>
                <a:latin typeface="Aptos"/>
              </a:rPr>
              <a:t>Adhikar AI | Project Deep Dive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6F2EA"/>
                </a:solidFill>
                <a:latin typeface="Aptos Display"/>
              </a:rPr>
              <a:t>11. Limitations and 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2BAC6"/>
                </a:solidFill>
                <a:latin typeface="Aptos"/>
              </a:rPr>
              <a:t>A strong prototype, but there is room to harden and extend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5120640" cy="4434840"/>
          </a:xfrm>
          <a:prstGeom prst="roundRect">
            <a:avLst/>
          </a:prstGeom>
          <a:solidFill>
            <a:srgbClr val="19253B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4447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7B96B"/>
                </a:solidFill>
                <a:latin typeface="Aptos"/>
              </a:rPr>
              <a:t>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783080"/>
            <a:ext cx="47548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The system is limited to the uploaded Constitution corpus and local retrieval quality.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Legal reasoning remains guidance-oriented and should not be treated as formal legal advice.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Model output quality depends on the local Ollama model and machine resources.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280160"/>
            <a:ext cx="5623560" cy="4434840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9048" y="144475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6F2EA"/>
                </a:solidFill>
                <a:latin typeface="Aptos"/>
              </a:rPr>
              <a:t>Natural next upgrades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8" y="1783080"/>
            <a:ext cx="525780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Add citations with richer formatting and answer highlighting.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Make the home page a separate route from the chat screen.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Add streaming responses and conversation history persistence.</a:t>
            </a:r>
          </a:p>
          <a:p>
            <a:pPr>
              <a:spcAft>
                <a:spcPts val="600"/>
              </a:spcAft>
              <a:defRPr sz="1200">
                <a:solidFill>
                  <a:srgbClr val="B2BAC6"/>
                </a:solidFill>
                <a:latin typeface="Aptos"/>
              </a:defRPr>
            </a:pPr>
            <a:r>
              <a:t>Tune retrieval thresholds and add more guardrails for ambiguity.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2BAC6"/>
                </a:solidFill>
                <a:latin typeface="Aptos"/>
              </a:rPr>
              <a:t>Adhikar AI | Project Deep Dive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6F2EA"/>
                </a:solidFill>
                <a:latin typeface="Aptos Display"/>
              </a:rPr>
              <a:t>12.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2BAC6"/>
                </a:solidFill>
                <a:latin typeface="Aptos"/>
              </a:rPr>
              <a:t>Adhikar AI is a local-first, source-linked legal assistant built for constitutional reasoning.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0" y="256032"/>
            <a:ext cx="777240" cy="347472"/>
          </a:xfrm>
          <a:prstGeom prst="roundRect">
            <a:avLst/>
          </a:prstGeom>
          <a:solidFill>
            <a:srgbClr val="121B2C"/>
          </a:solidFill>
          <a:ln w="12700">
            <a:solidFill>
              <a:srgbClr val="12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E7B96B"/>
                </a:solidFill>
                <a:latin typeface="Aptos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10332720" cy="3291840"/>
          </a:xfrm>
          <a:prstGeom prst="roundRect">
            <a:avLst/>
          </a:prstGeom>
          <a:solidFill>
            <a:srgbClr val="101827"/>
          </a:solidFill>
          <a:ln w="12700">
            <a:solidFill>
              <a:srgbClr val="3C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17830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7B96B"/>
                </a:solidFill>
                <a:latin typeface="Aptos Display"/>
              </a:rPr>
              <a:t>The short 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331720"/>
            <a:ext cx="9601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6F2EA"/>
                </a:solidFill>
                <a:latin typeface="Aptos"/>
              </a:rPr>
              <a:t>Adhikar AI loads the Indian Constitution PDF, splits it into parent and child chunks, vectorizes them with all-MiniLM-L6-v2, combines dense and sparse retrieval, reranks the results, and feeds the final context to a local Qwen 2.5 model via Ollama.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794760"/>
            <a:ext cx="9052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2BAC6"/>
                </a:solidFill>
                <a:latin typeface="Aptos"/>
              </a:rPr>
              <a:t>It is designed to answer legal questions with grounded reasoning, source citations, and a premium user interface.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2BAC6"/>
                </a:solidFill>
                <a:latin typeface="Aptos"/>
              </a:rPr>
              <a:t>Adhikar AI | Project Deep Dive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1406</Words>
  <Application>Microsoft Office PowerPoint</Application>
  <PresentationFormat>Widescreen</PresentationFormat>
  <Paragraphs>200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devansh jani</cp:lastModifiedBy>
  <cp:revision>2</cp:revision>
  <dcterms:created xsi:type="dcterms:W3CDTF">2013-01-27T09:14:16Z</dcterms:created>
  <dcterms:modified xsi:type="dcterms:W3CDTF">2026-04-02T16:24:19Z</dcterms:modified>
  <cp:category/>
</cp:coreProperties>
</file>