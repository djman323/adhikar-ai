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4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Adhikar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583680" cy="438912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What this project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20240"/>
            <a:ext cx="62636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400" dirty="0"/>
              <a:t>Adhikar AI answers Constitution-related legal questions.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400" dirty="0"/>
              <a:t>It reads the Indian Constitution PDF as the main data source.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400" dirty="0"/>
              <a:t>It finds the right text first, then generates a clear answer.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400" dirty="0"/>
              <a:t>It also shows source/page references with the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417320"/>
            <a:ext cx="3977639" cy="4389120"/>
          </a:xfrm>
          <a:prstGeom prst="roundRect">
            <a:avLst/>
          </a:prstGeom>
          <a:solidFill>
            <a:srgbClr val="090E19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sosceles Triangle 11"/>
          <p:cNvSpPr/>
          <p:nvPr/>
        </p:nvSpPr>
        <p:spPr>
          <a:xfrm>
            <a:off x="8275320" y="1828800"/>
            <a:ext cx="2377440" cy="1005840"/>
          </a:xfrm>
          <a:prstGeom prst="triangl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58200" y="2743200"/>
            <a:ext cx="164592" cy="1097280"/>
          </a:xfrm>
          <a:prstGeom prst="roundRect">
            <a:avLst/>
          </a:prstGeom>
          <a:solidFill>
            <a:srgbClr val="C69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89720" y="2743200"/>
            <a:ext cx="164592" cy="1097280"/>
          </a:xfrm>
          <a:prstGeom prst="roundRect">
            <a:avLst/>
          </a:prstGeom>
          <a:solidFill>
            <a:srgbClr val="C69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921240" y="2743200"/>
            <a:ext cx="164592" cy="1097280"/>
          </a:xfrm>
          <a:prstGeom prst="roundRect">
            <a:avLst/>
          </a:prstGeom>
          <a:solidFill>
            <a:srgbClr val="C69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83879" y="3886200"/>
            <a:ext cx="2697480" cy="182880"/>
          </a:xfrm>
          <a:prstGeom prst="roundRect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65176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21561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6F2EA"/>
                </a:solidFill>
                <a:latin typeface="Aptos Display"/>
              </a:rPr>
              <a:t>Project Flow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867" y="1000716"/>
            <a:ext cx="39085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Aptos"/>
              </a:rPr>
              <a:t>Where data comes from and how answers are generated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1920240" cy="960120"/>
          </a:xfrm>
          <a:prstGeom prst="roundRect">
            <a:avLst/>
          </a:prstGeom>
          <a:solidFill>
            <a:srgbClr val="121B2C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6F2EA"/>
                </a:solidFill>
                <a:latin typeface="Aptos"/>
              </a:rPr>
              <a:t>Data Source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39" y="2944368"/>
            <a:ext cx="274321" cy="0"/>
          </a:xfrm>
          <a:prstGeom prst="line">
            <a:avLst/>
          </a:prstGeom>
          <a:ln w="25400">
            <a:solidFill>
              <a:srgbClr val="E7B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44368" y="2468880"/>
            <a:ext cx="1920240" cy="960120"/>
          </a:xfrm>
          <a:prstGeom prst="roundRect">
            <a:avLst/>
          </a:prstGeom>
          <a:solidFill>
            <a:srgbClr val="121B2C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6F2EA"/>
                </a:solidFill>
                <a:latin typeface="Aptos"/>
              </a:rPr>
              <a:t>Data 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2040" y="2944368"/>
            <a:ext cx="274320" cy="0"/>
          </a:xfrm>
          <a:prstGeom prst="line">
            <a:avLst/>
          </a:prstGeom>
          <a:ln w="25400">
            <a:solidFill>
              <a:srgbClr val="E7B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30368" y="2468880"/>
            <a:ext cx="1920240" cy="960120"/>
          </a:xfrm>
          <a:prstGeom prst="roundRect">
            <a:avLst/>
          </a:prstGeom>
          <a:solidFill>
            <a:srgbClr val="121B2C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6F2EA"/>
                </a:solidFill>
                <a:latin typeface="Aptos"/>
              </a:rPr>
              <a:t>Smart Search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78040" y="2944368"/>
            <a:ext cx="274320" cy="0"/>
          </a:xfrm>
          <a:prstGeom prst="line">
            <a:avLst/>
          </a:prstGeom>
          <a:ln w="25400">
            <a:solidFill>
              <a:srgbClr val="E7B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16368" y="2468880"/>
            <a:ext cx="1920240" cy="960120"/>
          </a:xfrm>
          <a:prstGeom prst="roundRect">
            <a:avLst/>
          </a:prstGeom>
          <a:solidFill>
            <a:srgbClr val="121B2C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6F2EA"/>
                </a:solidFill>
                <a:latin typeface="Aptos"/>
              </a:rPr>
              <a:t>Answer Generation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64040" y="2944368"/>
            <a:ext cx="274320" cy="0"/>
          </a:xfrm>
          <a:prstGeom prst="line">
            <a:avLst/>
          </a:prstGeom>
          <a:ln w="25400">
            <a:solidFill>
              <a:srgbClr val="E7B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02368" y="2468880"/>
            <a:ext cx="1920240" cy="960120"/>
          </a:xfrm>
          <a:prstGeom prst="roundRect">
            <a:avLst/>
          </a:prstGeom>
          <a:solidFill>
            <a:srgbClr val="121B2C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6F2EA"/>
                </a:solidFill>
                <a:latin typeface="Aptos"/>
              </a:rPr>
              <a:t>Response to 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77639"/>
            <a:ext cx="10972800" cy="15544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In simple 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59"/>
            <a:ext cx="10652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t>Question comes in -&gt; system finds related Constitution text -&gt; model writes final answer -&gt; user gets answer with source references.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" y="-368992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7380" y="326845"/>
            <a:ext cx="31914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F6F2EA"/>
                </a:solidFill>
                <a:latin typeface="Aptos Display"/>
              </a:rPr>
              <a:t>1) Where Data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218482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Aptos"/>
              </a:rPr>
              <a:t>Main input used by 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303520" cy="45262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Source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983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Indian Constitution.pdf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Loaded page by page in backend.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Page number and section hints are saved with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03520" cy="45262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7218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Why this is 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983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Answers stay focused on constitutional law.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No random web scraping during answer generation.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Sources can be shown back to user for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2) How Data Is Processed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AC9"/>
                </a:solidFill>
                <a:latin typeface="Aptos"/>
              </a:rPr>
              <a:t>From long PDF text to searchable knowledge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611880" cy="45262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Step A: Chunking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32918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Long text is split into smaller chunks.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Parent chunks keep bigger context.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Child chunks improve exact retrieval.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3611880" cy="45262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47218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Step B: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28800"/>
            <a:ext cx="3291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Each chunk is converted into vectors.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This helps find meaning, not only exact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325880"/>
            <a:ext cx="3154680" cy="45262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472184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Step C: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828800"/>
            <a:ext cx="28346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Vectors are saved in FAISS indexes.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Metadata is saved in JSON mapping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3) Models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AC9"/>
                </a:solidFill>
                <a:latin typeface="Aptos"/>
              </a:rPr>
              <a:t>Simple model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486400" cy="45262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LLM (for final answer)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166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Runs locally using </a:t>
            </a:r>
            <a:r>
              <a:rPr sz="2000" dirty="0" err="1"/>
              <a:t>Ollama</a:t>
            </a:r>
            <a:r>
              <a:rPr sz="2000" dirty="0"/>
              <a:t>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Current model: qwen2.5:7b.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Used after retrieval context is prepared.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212080" cy="45262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47218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Search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892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Embedding model: sentence-transformers/all-MiniLM-L6-v2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 err="1"/>
              <a:t>Reranker</a:t>
            </a:r>
            <a:r>
              <a:rPr sz="2000" dirty="0"/>
              <a:t>: cross-encoder/ms-marco-MiniLM-L-6-v2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BM25 keyword search is also used for better recall.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4) How the Answer 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AC9"/>
                </a:solidFill>
                <a:latin typeface="Aptos"/>
              </a:rPr>
              <a:t>Runtime process for every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972800" cy="45262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Answer generation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527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1. User asks question in UI.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2. Backend retrieves relevant Constitution chunks.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3. Retrieval results are merged and reranked.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4. Final context is added in system prompt.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5. Qwen model generates answer in clear language.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6. UI displays answer + source references.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5)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29260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Aptos"/>
              </a:rPr>
              <a:t>Simple explanation of human supervision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486400" cy="434340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63624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51663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AI gives a suggestion, but the human checks it.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User can read the source references and decide.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If needed, a lawyer or expert can review the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303520" cy="4343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6362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Why we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83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Legal questions depend on facts and context.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Human review reduces risk of wrong action.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It makes the system safer and more trustworthy.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28889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6F2EA"/>
                </a:solidFill>
                <a:latin typeface="Aptos Display"/>
              </a:rPr>
              <a:t>6) What We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216668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Aptos"/>
              </a:rPr>
              <a:t>Only key tools, no deep jargon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2743200" cy="42976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0934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2423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Next.js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React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endParaRPr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3611880" y="1463040"/>
            <a:ext cx="2743200" cy="4297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160934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965960"/>
            <a:ext cx="2423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Python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Flask API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Session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463040"/>
            <a:ext cx="2560320" cy="4297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60934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965960"/>
            <a:ext cx="2240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FAISS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BM25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Reranking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463040"/>
            <a:ext cx="2240280" cy="4297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1609344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1965960"/>
            <a:ext cx="192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 err="1"/>
              <a:t>Ollama</a:t>
            </a:r>
            <a:endParaRPr sz="2000" dirty="0"/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Qwen 2.5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7) 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253210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Aptos"/>
              </a:rPr>
              <a:t>What a user experiences in real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972800" cy="45262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527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User opens Adhikar AI home/chat interface.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User asks question about Constitution or legal issue.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System finds best matching Constitution text in background.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AI gives a simple legal explanation and practical guidance.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Sources and pages are shown for transparency.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Final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10424160" cy="347472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83664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One slide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101041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Data source: Indian Constitution.pdf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Processing: chunking -&gt; embedding -&gt; indexing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Retrieval: dense + keyword + </a:t>
            </a:r>
            <a:r>
              <a:rPr sz="2000" dirty="0" err="1"/>
              <a:t>rerank</a:t>
            </a:r>
            <a:endParaRPr sz="2000" dirty="0"/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LLM: local Qwen model generates final answer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Output: clear response with source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7B96B"/>
                </a:solidFill>
              </a:defRPr>
            </a:pPr>
            <a:r>
              <a:t>Data Processing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0F2F7"/>
                </a:solidFill>
              </a:defRPr>
            </a:pPr>
            <a:r>
              <a:t>12 complementary algorithms across 4 phases transform raw PDFs into reliable legal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8C8"/>
                </a:solidFill>
              </a:defRPr>
            </a:pPr>
            <a:r>
              <a:t>Phase 1: Document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• PyPDFLoader: Extract text &amp; metadata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• RecursiveCharacterTextSplitter: Create parent/child chunks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9202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8C8"/>
                </a:solidFill>
              </a:defRPr>
            </a:pPr>
            <a:r>
              <a:t>Phase 2: Vectorization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42316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• Embeddings: Convert chunks to 384-dim vectors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• FAISS: Index for fast similarity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8C8"/>
                </a:solidFill>
              </a:defRPr>
            </a:pPr>
            <a:r>
              <a:t>Phase 3: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4068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• Dense Search: Semantic similarity (FAISS)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• BM25: Keyword matching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• RRF: Merge both signals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• Cross-Encoder: Final ranking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9377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8C8"/>
                </a:solidFill>
              </a:defRPr>
            </a:pPr>
            <a:r>
              <a:t>Phase 4: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44068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• Prompt Assembly: Build final input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• Qwen 2.5: Generate legal answer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7B96B"/>
                </a:solidFill>
              </a:defRPr>
            </a:pPr>
            <a:r>
              <a:t>Hybrid Retrieval: Why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0F2F7"/>
                </a:solidFill>
              </a:defRPr>
            </a:pPr>
            <a:r>
              <a:t>Constitutional law requires BOTH semantic understanding AND exact legal terminology. We combine 4 ranking signals: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3794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8C8"/>
                </a:solidFill>
              </a:defRPr>
            </a:pPr>
            <a:r>
              <a:t>1. Dense Search (FAISS)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3794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Semantic similarity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Vector embeddings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Catches meaning variations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Example: 'right to life' → Article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2560320"/>
            <a:ext cx="3794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8C8"/>
                </a:solidFill>
              </a:defRPr>
            </a:pPr>
            <a:r>
              <a:t>2. BM25 Keyword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3063240"/>
            <a:ext cx="3794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Exact term matching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Word frequency scoring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Preserves legal terms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Example: 'habeas corpus' exact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3794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8C8"/>
                </a:solidFill>
              </a:defRPr>
            </a:pPr>
            <a:r>
              <a:t>3. RRF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15000"/>
            <a:ext cx="3794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Merges both rankings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Formula: 1/(60+rank)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Avoids single-method bias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Best of both worlds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5212080"/>
            <a:ext cx="3794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8C8"/>
                </a:solidFill>
              </a:defRPr>
            </a:pPr>
            <a:r>
              <a:t>4. Cross-Encoder Reranking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5715000"/>
            <a:ext cx="3794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Fine-tuned legal ranker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Legal relevance scoring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Most accurate selection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0F2F7"/>
                </a:solidFill>
              </a:defRPr>
            </a:pPr>
            <a:r>
              <a:t>Final passage prioritization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7B96B"/>
                </a:solidFill>
              </a:defRPr>
            </a:pPr>
            <a:r>
              <a:t>Query Processing: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7B96B"/>
                </a:solidFill>
              </a:defRPr>
            </a:pPr>
            <a:r>
              <a:t>Example: 'What is my right if I am wrongfully detained?'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F0F2F7"/>
                </a:solidFill>
              </a:defRPr>
            </a:pPr>
            <a:r>
              <a:t>❱ Step 1: Embed Question: Convert 'wrongfully detained' to 384-dim vector using all-MiniLM-L6-v2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04288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F0F2F7"/>
                </a:solidFill>
              </a:defRPr>
            </a:pPr>
            <a:r>
              <a:t>❱ Step 2: Dense Search: FAISS finds 12 chunks near 'habeas corpus', 'Article 32', 'Personal Liberty'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883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F0F2F7"/>
                </a:solidFill>
              </a:defRPr>
            </a:pPr>
            <a:r>
              <a:t>❱ Step 3: BM25 Search: Keyword search finds 12 chunks containing 'detention', 'writ', 'Article 21'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72384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F0F2F7"/>
                </a:solidFill>
              </a:defRPr>
            </a:pPr>
            <a:r>
              <a:t>❱ Step 4: RRF Merge: Combine both lists → ~15 unique chunks with fused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5643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F0F2F7"/>
                </a:solidFill>
              </a:defRPr>
            </a:pPr>
            <a:r>
              <a:t>❱ Step 5: Cross-Encoder Rank: Rank all 15 → Top 3 about habeas corpus and emergency protections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F0F2F7"/>
                </a:solidFill>
              </a:defRPr>
            </a:pPr>
            <a:r>
              <a:t>❱ Step 6: Add Context: Expand top 3 child chunks with parent chunks for full Article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24528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F0F2F7"/>
                </a:solidFill>
              </a:defRPr>
            </a:pPr>
            <a:r>
              <a:t>❱ Step 7: Build Prompt: Assemble: system + memory + retrieved context +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0857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F0F2F7"/>
                </a:solidFill>
              </a:defRPr>
            </a:pPr>
            <a:r>
              <a:t>❱ Step 8: Generate Answer: Qwen 2.5 (temp=0.0) produces: 'Your right is protected under Articles 21-22...'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7B96B"/>
                </a:solidFill>
              </a:defRPr>
            </a:pPr>
            <a:r>
              <a:t>Key Formulas &amp;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8C8"/>
                </a:solidFill>
              </a:defRPr>
            </a:pPr>
            <a:r>
              <a:t>Reciprocal Rank Fusion (RRF)</a:t>
            </a:r>
          </a:p>
          <a:p>
            <a:pPr>
              <a:defRPr sz="1200">
                <a:solidFill>
                  <a:srgbClr val="E7B96B"/>
                </a:solidFill>
              </a:defRPr>
            </a:pPr>
            <a:r>
              <a:t>combined_score = 1/(60 + dense_rank) + 1/(60 + bm25_rank)</a:t>
            </a:r>
          </a:p>
          <a:p>
            <a:pPr>
              <a:defRPr sz="1000">
                <a:solidFill>
                  <a:srgbClr val="F0F2F7"/>
                </a:solidFill>
              </a:defRPr>
            </a:pPr>
            <a:r>
              <a:t>Why 60? Acts as smoothing constant. Prevents over-penalizing items ranked slightly lower.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C8"/>
                </a:solidFill>
              </a:defRPr>
            </a:pPr>
            <a:r>
              <a:t>Hierarchical Chunking</a:t>
            </a:r>
          </a:p>
          <a:p>
            <a:pPr>
              <a:defRPr sz="1100" b="1">
                <a:solidFill>
                  <a:srgbClr val="F0F2F7"/>
                </a:solidFill>
              </a:defRPr>
            </a:pPr>
            <a:r>
              <a:t>Parent Chunks</a:t>
            </a:r>
          </a:p>
          <a:p>
            <a:pPr lvl="1">
              <a:defRPr sz="900">
                <a:solidFill>
                  <a:srgbClr val="F0F2F7"/>
                </a:solidFill>
              </a:defRPr>
            </a:pPr>
            <a:r>
              <a:t>Size: 2200 chars, Overlap: 220 chars</a:t>
            </a:r>
            <a:br/>
            <a:r>
              <a:t>→ Preserves broader context</a:t>
            </a:r>
          </a:p>
          <a:p>
            <a:pPr>
              <a:defRPr sz="1100" b="1">
                <a:solidFill>
                  <a:srgbClr val="F0F2F7"/>
                </a:solidFill>
              </a:defRPr>
            </a:pPr>
            <a:r>
              <a:t>Child Chunks</a:t>
            </a:r>
          </a:p>
          <a:p>
            <a:pPr lvl="1">
              <a:defRPr sz="900">
                <a:solidFill>
                  <a:srgbClr val="F0F2F7"/>
                </a:solidFill>
              </a:defRPr>
            </a:pPr>
            <a:r>
              <a:t>Size: 700 chars, Overlap: 100 chars</a:t>
            </a:r>
            <a:br/>
            <a:r>
              <a:t>→ Improves retrieval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292608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C8"/>
                </a:solidFill>
              </a:defRPr>
            </a:pPr>
            <a:r>
              <a:t>Query Performance</a:t>
            </a:r>
          </a:p>
          <a:p>
            <a:pPr>
              <a:defRPr sz="900">
                <a:solidFill>
                  <a:srgbClr val="F0F2F7"/>
                </a:solidFill>
              </a:defRPr>
            </a:pPr>
            <a:r>
              <a:t>Dense Search: ~10ms</a:t>
            </a:r>
          </a:p>
          <a:p>
            <a:pPr>
              <a:defRPr sz="900">
                <a:solidFill>
                  <a:srgbClr val="F0F2F7"/>
                </a:solidFill>
              </a:defRPr>
            </a:pPr>
            <a:r>
              <a:t>BM25 Search: ~5ms</a:t>
            </a:r>
          </a:p>
          <a:p>
            <a:pPr>
              <a:defRPr sz="900">
                <a:solidFill>
                  <a:srgbClr val="F0F2F7"/>
                </a:solidFill>
              </a:defRPr>
            </a:pPr>
            <a:r>
              <a:t>RRF Merge: Negligible</a:t>
            </a:r>
          </a:p>
          <a:p>
            <a:pPr>
              <a:defRPr sz="900">
                <a:solidFill>
                  <a:srgbClr val="F0F2F7"/>
                </a:solidFill>
              </a:defRPr>
            </a:pPr>
            <a:r>
              <a:t>Cross-Encoder: ~50ms</a:t>
            </a:r>
          </a:p>
          <a:p>
            <a:pPr>
              <a:defRPr sz="900">
                <a:solidFill>
                  <a:srgbClr val="F0F2F7"/>
                </a:solidFill>
              </a:defRPr>
            </a:pPr>
            <a:r>
              <a:t>Qwen Generation: ~1-3s</a:t>
            </a:r>
          </a:p>
          <a:p>
            <a:pPr>
              <a:defRPr sz="900">
                <a:solidFill>
                  <a:srgbClr val="F0F2F7"/>
                </a:solidFill>
              </a:defRPr>
            </a:pPr>
            <a:r>
              <a:t>Total Latency: ~2-4s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632</Words>
  <Application>Microsoft Office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devansh jani</cp:lastModifiedBy>
  <cp:revision>2</cp:revision>
  <dcterms:created xsi:type="dcterms:W3CDTF">2013-01-27T09:14:16Z</dcterms:created>
  <dcterms:modified xsi:type="dcterms:W3CDTF">2026-04-02T18:13:06Z</dcterms:modified>
  <cp:category/>
</cp:coreProperties>
</file>